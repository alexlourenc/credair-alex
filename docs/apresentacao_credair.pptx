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d0934931-7f56-2ad6-e25b-8fc37cb36df7}">
          <p14:sldIdLst>
            <p14:sldId id="256"/>
          </p14:sldIdLst>
        </p14:section>
        <p14:section name="Problema e dados" id="{4251d30f-8979-2536-76b6-93fd58479b07}">
          <p14:sldIdLst>
            <p14:sldId id="257"/>
            <p14:sldId id="258"/>
            <p14:sldId id="259"/>
          </p14:sldIdLst>
        </p14:section>
        <p14:section name="Análise" id="{6fe01681-d6b2-dfaf-23f8-0e50b950b1cc}">
          <p14:sldIdLst>
            <p14:sldId id="260"/>
            <p14:sldId id="261"/>
          </p14:sldIdLst>
        </p14:section>
        <p14:section name="Modelo" id="{b6143bc0-b503-5bfb-8295-7dff1ceb080c}">
          <p14:sldIdLst>
            <p14:sldId id="262"/>
            <p14:sldId id="263"/>
            <p14:sldId id="264"/>
            <p14:sldId id="265"/>
          </p14:sldIdLst>
        </p14:section>
        <p14:section name="Conclusão" id="{fd6b9e6e-e110-8c86-a49f-1593aaeca8c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A6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6B6A66"/>
                </a:solidFill>
                <a:latin typeface="+mn-lt"/>
              </a:rPr>
              <a:t>ROC-AUC média na validação cruzada (treino)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média (5 partes)</c:v>
                </c:pt>
              </c:strCache>
            </c:strRef>
          </c:tx>
          <c:spPr>
            <a:solidFill>
              <a:srgbClr val="C3C2B7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2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Classe majoritária</c:v>
                  </c:pt>
                  <c:pt idx="1">
                    <c:v>Só score</c:v>
                  </c:pt>
                  <c:pt idx="2">
                    <c:v>Originais</c:v>
                  </c:pt>
                  <c:pt idx="3">
                    <c:v>+ comprometimento</c:v>
                  </c:pt>
                  <c:pt idx="4">
                    <c:v>+ estado</c:v>
                  </c:pt>
                  <c:pt idx="5">
                    <c:v>Só numéricas (final)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0.679</c:v>
                </c:pt>
                <c:pt idx="2">
                  <c:v>0.769</c:v>
                </c:pt>
                <c:pt idx="3">
                  <c:v>0.793</c:v>
                </c:pt>
                <c:pt idx="4">
                  <c:v>0.788</c:v>
                </c:pt>
                <c:pt idx="5">
                  <c:v>0.794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Objetivo: usar o histórico de propostas para entender a inadimplência e construir uma Regressão Logística que apoie a identificação de propostas de maior risco. Dados sintéticos.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erros não custam o mesmo: aprovar um mau pagador custa o capital; recusar um bom custa os juros. Por isso o foco no recall da classe inadimplente e não na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Medalhão leve: pastas e Parquet, sem Spark. A regra contra vazamento é o ponto técnico mais importante: tudo que aprende estatísticas é ajustado só no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os ~690 casos de início antes dos 14 anos foi intencional: estão concentrados entre 18 e 35 anos, e removê-los enviesaria a base contra os jovens. Resultado: 4.981 propostas, taxa de inadimplência preservada em 34,4%.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Correlação não é causalidade: o score não causa a inadimplência, ele resume um histórico associado a ela. As variáveis explicativas são quase independentes entre si (correlação máxima de 0,10).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prazo curto não é arriscado por si: ele gera uma parcela pesada. A variável é uma transformação linha a linha, sem vazamento de dados. Não há juros na base, então a parcela é uma aproximação.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cruzada estratificada com 5 partes, só no treino. Métrica: ROC-AUC, que independe do limiar. A variável criada traz o maior ganho. Regularização L2 padrão; o desvio pequeno (±0,015) mostra estabilidade.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azul (modelo) fica acima da laranja (só score) em toda a extensão. O teste tem 997 propostas que o modelo nunca viu.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limiar padrão, mais da metade dos maus pagadores seria aprovada, o erro mais caro. Ao baixar para 0,31, o modelo pega 3 em cada 4 inadimplentes. O custo é sinalizar mais bons pagadores. Com os custos reais de cada erro, o limiar pode ser recalibrado.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Diferença entre análise univariada e multivariada. O valor solicitado também perde o efeito próprio, porque sua influência passa pelo comprometimento.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passos: levar a limpeza, os atributos e o pipeline para um módulo testado e construir uma aplicação de simulação de propostas.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CredAIR: identificando propostas com maior risco de inadimplência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Desafio 1 · Análise de Crédito · Fast Track IA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Alex Lourenço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problema: prever quem não vai pagar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Variável resposta: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inadimplente (0 = pagou, 1 = não pagou)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Tipo de problema: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classificação binária supervisionada, porque a resposta é uma categoria e temos exemplos com o resultado conhecido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Saída do modelo: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probabilidade de inadimplência, convertida em decisão por um limiar</a:t>
            </a:r>
            <a:endParaRPr lang="en-US" sz="1400" dirty="0"/>
          </a:p>
        </p:txBody>
      </p:sp>
      <p:sp>
        <p:nvSpPr>
          <p:cNvPr id="4" name="card falso negativo"/>
          <p:cNvSpPr/>
          <p:nvPr/>
        </p:nvSpPr>
        <p:spPr>
          <a:xfrm>
            <a:off x="457200" y="301752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Falso negativo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Aprova um mau pagador. Perde o capital emprestado: custo alto</a:t>
            </a:r>
            <a:endParaRPr lang="en-US" sz="1300" dirty="0"/>
          </a:p>
        </p:txBody>
      </p:sp>
      <p:sp>
        <p:nvSpPr>
          <p:cNvPr id="6" name="card falso positivo"/>
          <p:cNvSpPr/>
          <p:nvPr/>
        </p:nvSpPr>
        <p:spPr>
          <a:xfrm>
            <a:off x="2926080" y="301752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Falso positivo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Recusa um bom pagador. Perde os juros e o cliente: custo moderado</a:t>
            </a:r>
            <a:endParaRPr lang="en-US" sz="1300" dirty="0"/>
          </a:p>
        </p:txBody>
      </p:sp>
      <p:sp>
        <p:nvSpPr>
          <p:cNvPr id="8" name="destaque taxa de inadimplência"/>
          <p:cNvSpPr/>
          <p:nvPr/>
        </p:nvSpPr>
        <p:spPr>
          <a:xfrm>
            <a:off x="5669280" y="1143000"/>
            <a:ext cx="3017520" cy="3108960"/>
          </a:xfrm>
          <a:prstGeom prst="roundRect">
            <a:avLst>
              <a:gd name="adj" fmla="val 24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34,4%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das 5.000 propostas resultaram em inadimplência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1546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Chutar sempre "adimplente" acerta 66% sem aprender nada. Por isso a acurácia engana.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Organização: fases, commits e camadas de dados</a:t>
            </a:r>
            <a:endParaRPr lang="en-US" sz="2800" dirty="0"/>
          </a:p>
        </p:txBody>
      </p:sp>
      <p:sp>
        <p:nvSpPr>
          <p:cNvPr id="3" name="camada Bronze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dalha Bronz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Bronze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dataset.csv como recebido. Versionado e nunca alterado</a:t>
            </a:r>
            <a:endParaRPr lang="en-US" sz="1300" dirty="0"/>
          </a:p>
        </p:txBody>
      </p:sp>
      <p:sp>
        <p:nvSpPr>
          <p:cNvPr id="7" name="camada Prata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medalha Prata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8A9199"/>
          </a:solidFill>
          <a:ln w="12700">
            <a:solidFill>
              <a:srgbClr val="8A91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Prata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Dado limpo: sem duplicatas, tipos corretos, inválidos tratados</a:t>
            </a:r>
            <a:endParaRPr lang="en-US" sz="1300" dirty="0"/>
          </a:p>
        </p:txBody>
      </p:sp>
      <p:sp>
        <p:nvSpPr>
          <p:cNvPr id="11" name="camada Ouro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edalha Ouro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Pronto para o modelo, com a variável derivada</a:t>
            </a:r>
            <a:endParaRPr lang="en-US" sz="1300" dirty="0"/>
          </a:p>
        </p:txBody>
      </p:sp>
      <p:sp>
        <p:nvSpPr>
          <p:cNvPr id="15" name="regra contra vazamento"/>
          <p:cNvSpPr/>
          <p:nvPr/>
        </p:nvSpPr>
        <p:spPr>
          <a:xfrm>
            <a:off x="457200" y="3063240"/>
            <a:ext cx="82296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227832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Regra contra vazamento de dados: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camada ouro só tem transformações linha a linha. Imputação, padronização e one-hot ficam no Pipeline e são ajustadas apenas no treino. Um commit por fase (Conventional Commits) e cada decisão registrada no ROADMAP.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Qualidade dos dados: diagnosticar antes de tratar</a:t>
            </a:r>
            <a:endParaRPr lang="en-US" sz="2800" dirty="0"/>
          </a:p>
        </p:txBody>
      </p:sp>
      <p:graphicFrame>
        <p:nvGraphicFramePr>
          <p:cNvPr id="5" name="tabela de problem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82296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Registros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Tratamento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Duplicatas idênticas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Removidas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UF com espaços (' MG ' ≠ 'MG')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Padronizadas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Idade de 210 a 750 anos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Marcadas como ausentes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Tempo de emprego ≥ idade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Marcados como ausentes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Renda de R$ 100 a R$ 550 (sequência)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Marcadas como ausentes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Trabalho antes dos 14 anos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~690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Mantidos (limitação)</a:t>
                      </a:r>
                      <a:endParaRPr lang="en-US" sz="1200" dirty="0"/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decisão ausente"/>
          <p:cNvSpPr/>
          <p:nvPr/>
        </p:nvSpPr>
        <p:spPr>
          <a:xfrm>
            <a:off x="5852160" y="1188720"/>
            <a:ext cx="2834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37160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Decisão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Marcar como ausente e imputar a mediana no pipeline.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Remover a linha perderia 10 colunas corretas. Dividir a idade por 10 é uma suposição: a idade 300 viraria 30 anos, com 19 anos de emprego.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que separa bons e maus pagadores</a:t>
            </a:r>
            <a:endParaRPr lang="en-US" sz="2800" dirty="0"/>
          </a:p>
        </p:txBody>
      </p:sp>
      <p:pic>
        <p:nvPicPr>
          <p:cNvPr id="3" name="Taxa de inadimplência por quintil" descr="Taxa de inadimplência por quint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837785"/>
          </a:xfrm>
          <a:prstGeom prst="rect">
            <a:avLst/>
          </a:prstGeom>
        </p:spPr>
      </p:pic>
      <p:sp>
        <p:nvSpPr>
          <p:cNvPr id="4" name="marcador 1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3154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Score: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56% → 16% do menor para o maior quintil</a:t>
            </a:r>
            <a:endParaRPr lang="en-US" sz="1400" dirty="0"/>
          </a:p>
        </p:txBody>
      </p:sp>
      <p:sp>
        <p:nvSpPr>
          <p:cNvPr id="7" name="marcador 2"/>
          <p:cNvSpPr/>
          <p:nvPr/>
        </p:nvSpPr>
        <p:spPr>
          <a:xfrm>
            <a:off x="4663440" y="3154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Renda: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53% → 21%</a:t>
            </a:r>
            <a:endParaRPr lang="en-US" sz="1400" dirty="0"/>
          </a:p>
        </p:txBody>
      </p:sp>
      <p:sp>
        <p:nvSpPr>
          <p:cNvPr id="10" name="marcador 3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Dívidas ativas: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27% (0 a 1) → 61% (7 dívidas)</a:t>
            </a:r>
            <a:endParaRPr lang="en-US" sz="1400" dirty="0"/>
          </a:p>
        </p:txBody>
      </p:sp>
      <p:sp>
        <p:nvSpPr>
          <p:cNvPr id="13" name="marcador 4"/>
          <p:cNvSpPr/>
          <p:nvPr/>
        </p:nvSpPr>
        <p:spPr>
          <a:xfrm>
            <a:off x="4663440" y="3794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634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166360" y="37947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Estado, escolaridade, finalidade: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sem associação (qui², p ≥ 0,23)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variável que criei: comprometimento da renda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Paradoxo: prazos de 6 meses têm 55% de inadimplência, e os de 36 meses, 28%. Por quê?</a:t>
            </a:r>
            <a:endParaRPr lang="en-US" sz="1400" dirty="0"/>
          </a:p>
        </p:txBody>
      </p:sp>
      <p:sp>
        <p:nvSpPr>
          <p:cNvPr id="4" name="fórmula"/>
          <p:cNvSpPr/>
          <p:nvPr/>
        </p:nvSpPr>
        <p:spPr>
          <a:xfrm>
            <a:off x="457200" y="1874520"/>
            <a:ext cx="39319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(valor ÷ prazo) ÷ renda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fração da renda que vai para a parcela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21%→71%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inadimplência do menor ao maior decil de comprometimento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880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36118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de AUC no modelo (0,769 → 0,793)</a:t>
            </a:r>
            <a:endParaRPr lang="en-US" sz="1200" dirty="0"/>
          </a:p>
        </p:txBody>
      </p:sp>
      <p:pic>
        <p:nvPicPr>
          <p:cNvPr id="11" name="Inadimplência por decil de comprometimento da renda" descr="Inadimplência por decil de comprometimento da ren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34440"/>
            <a:ext cx="4023360" cy="23487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Escolha do modelo com validação cruzada</a:t>
            </a:r>
            <a:endParaRPr lang="en-US" sz="2800" dirty="0"/>
          </a:p>
        </p:txBody>
      </p:sp>
      <p:graphicFrame>
        <p:nvGraphicFramePr>
          <p:cNvPr id="3" name="gráfico AUC por configuração" descr=""/>
          <p:cNvGraphicFramePr/>
          <p:nvPr/>
        </p:nvGraphicFramePr>
        <p:xfrm>
          <a:off x="457200" y="109728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marcador 1"/>
          <p:cNvSpPr/>
          <p:nvPr/>
        </p:nvSpPr>
        <p:spPr>
          <a:xfrm>
            <a:off x="5669280" y="1188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72200" y="1188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Teste usado só no final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Escolher pelo teste deixaria a avaliação otimista</a:t>
            </a:r>
            <a:endParaRPr lang="en-US" sz="1400" dirty="0"/>
          </a:p>
        </p:txBody>
      </p:sp>
      <p:sp>
        <p:nvSpPr>
          <p:cNvPr id="7" name="marcador 2"/>
          <p:cNvSpPr/>
          <p:nvPr/>
        </p:nvSpPr>
        <p:spPr>
          <a:xfrm>
            <a:off x="5669280" y="2331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2331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Estado fora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Não ajuda (0,788) e pode discriminar regiões</a:t>
            </a:r>
            <a:endParaRPr lang="en-US" sz="1400" dirty="0"/>
          </a:p>
        </p:txBody>
      </p:sp>
      <p:sp>
        <p:nvSpPr>
          <p:cNvPr id="10" name="marcador 3"/>
          <p:cNvSpPr/>
          <p:nvPr/>
        </p:nvSpPr>
        <p:spPr>
          <a:xfrm>
            <a:off x="5669280" y="34747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3474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Parcimônia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 escolaridade e finalidade, o resultado empata: fica o modelo mais simples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 teste, o modelo supera a regra do score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ROC-AUC da Regressão Logística no teste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0,695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regra só com o score (prática comum)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AUC no teste é próxima da obtida na validação cruzada (0,794): o modelo generaliza e não decorou o treino.</a:t>
            </a:r>
            <a:endParaRPr lang="en-US" sz="1300" dirty="0"/>
          </a:p>
        </p:txBody>
      </p:sp>
      <p:pic>
        <p:nvPicPr>
          <p:cNvPr id="8" name="Curva ROC no conjunto de teste" descr="Curva ROC no conjunto de te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51560"/>
            <a:ext cx="3749040" cy="349397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limiar é uma decisão de negócio</a:t>
            </a:r>
            <a:endParaRPr lang="en-US" sz="2800" dirty="0"/>
          </a:p>
        </p:txBody>
      </p:sp>
      <p:graphicFrame>
        <p:nvGraphicFramePr>
          <p:cNvPr id="10" name="tabela de limia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 teste</a:t>
                      </a:r>
                      <a:endParaRPr lang="en-US" sz="13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Limiar 0,50</a:t>
                      </a:r>
                      <a:endParaRPr lang="en-US" sz="13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Limiar 0,31</a:t>
                      </a:r>
                      <a:endParaRPr lang="en-US" sz="13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Inadimplentes identificados (recall)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74%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Acerto quando sinaliza (precisão)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68%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56%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0,54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0,64</a:t>
                      </a:r>
                      <a:endParaRPr lang="en-US" sz="1400" dirty="0"/>
                    </a:p>
                  </a:txBody>
                  <a:tcPr marL="91440" marR="91440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 limiar 0,31 foi escolhido no treino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(F1 máximo na validação cruzada), não no teste.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Uso sugerido: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enviar os casos sinalizados para análise manual ou ajustar as condições, em vez de recusar automaticamente.</a:t>
            </a:r>
            <a:endParaRPr lang="en-US" sz="1400" dirty="0"/>
          </a:p>
        </p:txBody>
      </p:sp>
      <p:pic>
        <p:nvPicPr>
          <p:cNvPr id="5" name="Matriz de confusão no limiar 0,31" descr="Matriz de confusão no limiar 0,3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8720"/>
            <a:ext cx="3383280" cy="24822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 que mais pesa no risco</a:t>
            </a:r>
            <a:endParaRPr lang="en-US" sz="2800" dirty="0"/>
          </a:p>
        </p:txBody>
      </p:sp>
      <p:pic>
        <p:nvPicPr>
          <p:cNvPr id="3" name="Coeficientes do modelo" descr="Coeficientes do mode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846320" cy="229683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577840" y="1143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2,78×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12280" y="11430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comprometimento da renda: o fator de risco mais forte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2103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0,44×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103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score de crédito: reduz a chance pela metade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3063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1,60×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30632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dívidas ativas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4069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Odds ratio por aumento de 1 desvio-padrão, mantendo as demais variáveis constantes.</a:t>
            </a:r>
            <a:endParaRPr lang="en-US" sz="1100" dirty="0"/>
          </a:p>
        </p:txBody>
      </p:sp>
      <p:sp>
        <p:nvSpPr>
          <p:cNvPr id="11" name="curiosidade prazo"/>
          <p:cNvSpPr/>
          <p:nvPr/>
        </p:nvSpPr>
        <p:spPr>
          <a:xfrm>
            <a:off x="457200" y="3246120"/>
            <a:ext cx="4846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 prazo troca de sinal no modelo.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Analisado sozinho, prazo curto parece arriscado. Descontado o comprometimento, um prazo mais longo aumenta levemente o risco: o efeito era da parcela pesada.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Conclusões, limitações e cuidados</a:t>
            </a:r>
            <a:endParaRPr lang="en-US" sz="2800" dirty="0"/>
          </a:p>
        </p:txBody>
      </p:sp>
      <p:sp>
        <p:nvSpPr>
          <p:cNvPr id="3" name="coluna Ação prática"/>
          <p:cNvSpPr/>
          <p:nvPr/>
        </p:nvSpPr>
        <p:spPr>
          <a:xfrm>
            <a:off x="45720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Ação prática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Para clientes no limite, oferecer prazo maior ou valor menor reduz o comprometimento e o risco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 modelo ordena o risco melhor que o score sozinho</a:t>
            </a:r>
            <a:endParaRPr lang="en-US" sz="1300" dirty="0"/>
          </a:p>
        </p:txBody>
      </p:sp>
      <p:sp>
        <p:nvSpPr>
          <p:cNvPr id="6" name="coluna Limitações"/>
          <p:cNvSpPr/>
          <p:nvPr/>
        </p:nvSpPr>
        <p:spPr>
          <a:xfrm>
            <a:off x="324612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Limitações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Dados sintéticos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Viés de seleção: só propostas analisadas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Parcela calculada sem juros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Sem dimensão temporal</a:t>
            </a:r>
            <a:endParaRPr lang="en-US" sz="1300" dirty="0"/>
          </a:p>
        </p:txBody>
      </p:sp>
      <p:sp>
        <p:nvSpPr>
          <p:cNvPr id="9" name="coluna Cuidados em produção"/>
          <p:cNvSpPr/>
          <p:nvPr/>
        </p:nvSpPr>
        <p:spPr>
          <a:xfrm>
            <a:off x="603504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F3157"/>
          </a:solidFill>
          <a:ln w="12700">
            <a:solidFill>
              <a:srgbClr val="1F315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Cuidados em produção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Apoio à decisão, não decisão automática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Justiça e LGPD: estado fora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Monitorar o drift e retreinar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Aplicar as mesmas regras do treino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Próximos passos: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levar o pipeline para um módulo testado e criar uma aplicação de simulação de propostas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AIR">
  <a:themeElements>
    <a:clrScheme name="CredAIR">
      <a:dk1>
        <a:srgbClr val="1B1B1B"/>
      </a:dk1>
      <a:lt1>
        <a:srgbClr val="FFFFFF"/>
      </a:lt1>
      <a:dk2>
        <a:srgbClr val="14213D"/>
      </a:dk2>
      <a:lt2>
        <a:srgbClr val="F1F3F7"/>
      </a:lt2>
      <a:accent1>
        <a:srgbClr val="EB6834"/>
      </a:accent1>
      <a:accent2>
        <a:srgbClr val="2A78D6"/>
      </a:accent2>
      <a:accent3>
        <a:srgbClr val="1BAF7A"/>
      </a:accent3>
      <a:accent4>
        <a:srgbClr val="EDA100"/>
      </a:accent4>
      <a:accent5>
        <a:srgbClr val="6250D6"/>
      </a:accent5>
      <a:accent6>
        <a:srgbClr val="6B6A66"/>
      </a:accent6>
      <a:hlink>
        <a:srgbClr val="2A78D6"/>
      </a:hlink>
      <a:folHlink>
        <a:srgbClr val="6250D6"/>
      </a:folHlink>
    </a:clrScheme>
    <a:fontScheme name="CredAI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CredAIR — Análise de Risco de Crédito</dc:title>
  <dc:subject>PptxGenJS Presentation</dc:subject>
  <dc:creator>Alex Lourenço</dc:creator>
  <cp:lastModifiedBy>Alex Lourenço</cp:lastModifiedBy>
  <cp:revision>1</cp:revision>
  <dcterms:created xsi:type="dcterms:W3CDTF">2026-10-23T21:25:24Z</dcterms:created>
  <dcterms:modified xsi:type="dcterms:W3CDTF">2026-10-23T21:25:24Z</dcterms:modified>
</cp:coreProperties>
</file>